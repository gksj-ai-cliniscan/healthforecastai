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</c:v>
                </c:pt>
              </c:strCache>
            </c:strRef>
          </c:tx>
          <c:spPr>
            <a:solidFill>
              <a:srgbClr val="5B6778"/>
            </a:solidFill>
          </c:spPr>
          <c:cat>
            <c:strRef>
              <c:f>Sheet1!$A$2:$A$4</c:f>
              <c:strCache>
                <c:ptCount val="3"/>
                <c:pt idx="0">
                  <c:v>High (&gt;=20%)</c:v>
                </c:pt>
                <c:pt idx="1">
                  <c:v>Medium (12-20%)</c:v>
                </c:pt>
                <c:pt idx="2">
                  <c:v>Low (&lt;12%)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24.6</c:v>
                </c:pt>
                <c:pt idx="1">
                  <c:v>15.1</c:v>
                </c:pt>
                <c:pt idx="2">
                  <c:v>6.9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B6E99"/>
            </a:solidFill>
          </c:spPr>
          <c:cat>
            <c:strRef>
              <c:f>Sheet1!$A$2:$A$4</c:f>
              <c:strCache>
                <c:ptCount val="3"/>
                <c:pt idx="0">
                  <c:v>High (&gt;=20%)</c:v>
                </c:pt>
                <c:pt idx="1">
                  <c:v>Medium (12-20%)</c:v>
                </c:pt>
                <c:pt idx="2">
                  <c:v>Low (&lt;12%)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24.7</c:v>
                </c:pt>
                <c:pt idx="1">
                  <c:v>13.2</c:v>
                </c:pt>
                <c:pt idx="2">
                  <c:v>7.5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5400" b="1">
                <a:solidFill>
                  <a:srgbClr val="0B6E99"/>
                </a:solidFill>
              </a:defRPr>
            </a:pPr>
            <a:r>
              <a:t>HealthForecast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0">
                <a:solidFill>
                  <a:srgbClr val="1A2332"/>
                </a:solidFill>
              </a:defRPr>
            </a:pPr>
            <a:r>
              <a:t>Hospital readmission prediction and patient risk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5B6778"/>
                </a:solidFill>
              </a:defRPr>
            </a:pPr>
            <a:r>
              <a:t>Final presentation  ·  Milestones 1-4  ·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6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1A2332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5B6778"/>
                </a:solidFill>
              </a:defRPr>
            </a:pPr>
            <a:r>
              <a:t>One in eleven diabetic patients is back within 30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A2332"/>
                </a:solidFill>
              </a:defRPr>
            </a:pPr>
            <a:r>
              <a:t>•  Readmissions are costly, penalised in many health systems, and often avoidable.</a:t>
            </a:r>
          </a:p>
          <a:p>
            <a:pPr>
              <a:spcAft>
                <a:spcPts val="600"/>
              </a:spcAft>
              <a:defRPr sz="2000" b="0">
                <a:solidFill>
                  <a:srgbClr val="1A2332"/>
                </a:solidFill>
              </a:defRPr>
            </a:pPr>
            <a:r>
              <a:t>•  Ward teams cannot review every discharge, so they need to know who to look at first.</a:t>
            </a:r>
          </a:p>
          <a:p>
            <a:pPr>
              <a:spcAft>
                <a:spcPts val="600"/>
              </a:spcAft>
              <a:defRPr sz="2000" b="0">
                <a:solidFill>
                  <a:srgbClr val="1A2332"/>
                </a:solidFill>
              </a:defRPr>
            </a:pPr>
            <a:r>
              <a:t>•  Our answer: rank patients by risk, say why, and suggest what to do - with a clinician always making the call.</a:t>
            </a:r>
          </a:p>
          <a:p>
            <a:pPr>
              <a:spcAft>
                <a:spcPts val="600"/>
              </a:spcAft>
              <a:defRPr sz="2000" b="0">
                <a:solidFill>
                  <a:srgbClr val="1A2332"/>
                </a:solidFill>
              </a:defRPr>
            </a:pPr>
            <a:r>
              <a:t>•  Data: Diabetes 130-US Hospitals, 101,766 encounters; 62,991 patients after cleaning.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6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1A2332"/>
                </a:solidFill>
              </a:defRPr>
            </a:pPr>
            <a:r>
              <a:t>What was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5B6778"/>
                </a:solidFill>
              </a:defRPr>
            </a:pPr>
            <a:r>
              <a:t>Four milestones, one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1A2332"/>
                </a:solidFill>
              </a:defRPr>
            </a:pPr>
            <a:r>
              <a:t>•  M1  Secure foundation: JWT auth, four-role access matrix, patient records, dashboards, data pipeline into PostgreSQL.</a:t>
            </a:r>
          </a:p>
          <a:p>
            <a:pPr>
              <a:spcAft>
                <a:spcPts val="600"/>
              </a:spcAft>
              <a:defRPr sz="1900" b="0">
                <a:solidFill>
                  <a:srgbClr val="1A2332"/>
                </a:solidFill>
              </a:defRPr>
            </a:pPr>
            <a:r>
              <a:t>•  M2  A calibrated risk model, real-time and batch scoring, risk bands, forecasting.</a:t>
            </a:r>
          </a:p>
          <a:p>
            <a:pPr>
              <a:spcAft>
                <a:spcPts val="600"/>
              </a:spcAft>
              <a:defRPr sz="1900" b="0">
                <a:solidFill>
                  <a:srgbClr val="1A2332"/>
                </a:solidFill>
              </a:defRPr>
            </a:pPr>
            <a:r>
              <a:t>•  M3  Treatment effectiveness, hospital performance, trend monitoring, care recommendations, audited privacy-safe exports.</a:t>
            </a:r>
          </a:p>
          <a:p>
            <a:pPr>
              <a:spcAft>
                <a:spcPts val="600"/>
              </a:spcAft>
              <a:defRPr sz="1900" b="0">
                <a:solidFill>
                  <a:srgbClr val="1A2332"/>
                </a:solidFill>
              </a:defRPr>
            </a:pPr>
            <a:r>
              <a:t>•  M4  Validation, hardening, containers, deployment path, end-to-end tests, documentation.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6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1A2332"/>
                </a:solidFill>
              </a:defRPr>
            </a:pPr>
            <a: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2651760" cy="2377440"/>
          </a:xfrm>
          <a:prstGeom prst="rect">
            <a:avLst/>
          </a:prstGeom>
          <a:solidFill>
            <a:srgbClr val="EEF4F8"/>
          </a:solidFill>
          <a:ln>
            <a:solidFill>
              <a:srgbClr val="0B6E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65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B6E99"/>
                </a:solidFill>
              </a:defRPr>
            </a:pPr>
            <a:r>
              <a:t>Next.js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060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A2332"/>
                </a:solidFill>
              </a:defRPr>
            </a:pPr>
            <a:r>
              <a:t>Role-aware dashboards, patient page, treatment and performance views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828800"/>
            <a:ext cx="2651760" cy="2377440"/>
          </a:xfrm>
          <a:prstGeom prst="rect">
            <a:avLst/>
          </a:prstGeom>
          <a:solidFill>
            <a:srgbClr val="EEF4F8"/>
          </a:solidFill>
          <a:ln>
            <a:solidFill>
              <a:srgbClr val="0B6E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965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B6E99"/>
                </a:solidFill>
              </a:defRPr>
            </a:pPr>
            <a:r>
              <a:t>FastAPI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6060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A2332"/>
                </a:solidFill>
              </a:defRPr>
            </a:pPr>
            <a:r>
              <a:t>RBAC on every route, scoping inside SQL, audit log, statistics services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1828800"/>
            <a:ext cx="2651760" cy="2377440"/>
          </a:xfrm>
          <a:prstGeom prst="rect">
            <a:avLst/>
          </a:prstGeom>
          <a:solidFill>
            <a:srgbClr val="EEF4F8"/>
          </a:solidFill>
          <a:ln>
            <a:solidFill>
              <a:srgbClr val="0B6E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65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B6E99"/>
                </a:solidFill>
              </a:defRPr>
            </a:pPr>
            <a:r>
              <a:t>PostgreSQL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6060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A2332"/>
                </a:solidFill>
              </a:defRPr>
            </a:pPr>
            <a:r>
              <a:t>Patients, admissions, treatments, predictions; Alembic migrations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9719" y="1828800"/>
            <a:ext cx="2651760" cy="2377440"/>
          </a:xfrm>
          <a:prstGeom prst="rect">
            <a:avLst/>
          </a:prstGeom>
          <a:solidFill>
            <a:srgbClr val="EEF4F8"/>
          </a:solidFill>
          <a:ln>
            <a:solidFill>
              <a:srgbClr val="0B6E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965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B6E99"/>
                </a:solidFill>
              </a:defRPr>
            </a:pPr>
            <a:r>
              <a:t>ML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6060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A2332"/>
                </a:solidFill>
              </a:defRPr>
            </a:pPr>
            <a:r>
              <a:t>Clean, split, calibrate, tune threshold, explain, score, audit fairness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63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5B6778"/>
                </a:solidFill>
              </a:defRPr>
            </a:pPr>
            <a:r>
              <a:t>nginx in front in production · Docker Compose · GitHub Actions CI on every branch · manual, gated deploy workflow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6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1A2332"/>
                </a:solidFill>
              </a:defRPr>
            </a:pPr>
            <a:r>
              <a:t>Does the model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5B6778"/>
                </a:solidFill>
              </a:defRPr>
            </a:pPr>
            <a:r>
              <a:t>Held-out test set: 12,599 patients, never used to fit or tune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828800"/>
          <a:ext cx="65836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89520" y="18288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000" b="1">
                <a:solidFill>
                  <a:srgbClr val="0B6E99"/>
                </a:solidFill>
              </a:defRPr>
            </a:pPr>
            <a:r>
              <a:t>0.633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6060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B6778"/>
                </a:solidFill>
              </a:defRPr>
            </a:pPr>
            <a:r>
              <a:t>ROC-AUC (95% CI 0.618-0.650)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32918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000" b="1">
                <a:solidFill>
                  <a:srgbClr val="1E7B4A"/>
                </a:solidFill>
              </a:defRPr>
            </a:pPr>
            <a:r>
              <a:t>2.6x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4069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B6778"/>
                </a:solidFill>
              </a:defRPr>
            </a:pPr>
            <a:r>
              <a:t>readmission rate in the high band vs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47548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000" b="1">
                <a:solidFill>
                  <a:srgbClr val="B43A2B"/>
                </a:solidFill>
              </a:defRPr>
            </a:pPr>
            <a:r>
              <a:t>0.538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55321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B6778"/>
                </a:solidFill>
              </a:defRPr>
            </a:pPr>
            <a:r>
              <a:t>ROC-AUC of the rule already in use (prior stays)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6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1A2332"/>
                </a:solidFill>
              </a:defRPr>
            </a:pPr>
            <a:r>
              <a:t>Honest about the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5B6778"/>
                </a:solidFill>
              </a:defRPr>
            </a:pPr>
            <a:r>
              <a:t>A triage aid, not a 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A2332"/>
                </a:solidFill>
              </a:defRPr>
            </a:pPr>
            <a:r>
              <a:t>•  ROC-AUC 0.63 sits inside the published 0.63-0.68 range for this dataset. It is modest.</a:t>
            </a:r>
          </a:p>
          <a:p>
            <a:pPr>
              <a:spcAft>
                <a:spcPts val="600"/>
              </a:spcAft>
              <a:defRPr sz="2000" b="0">
                <a:solidFill>
                  <a:srgbClr val="1A2332"/>
                </a:solidFill>
              </a:defRPr>
            </a:pPr>
            <a:r>
              <a:t>•  Catches 50% of readmissions by flagging a third of patients; 14% of those flagged are readmitted. That is a trade-off for the hospital to set, not a bug.</a:t>
            </a:r>
          </a:p>
          <a:p>
            <a:pPr>
              <a:spcAft>
                <a:spcPts val="600"/>
              </a:spcAft>
              <a:defRPr sz="2000" b="0">
                <a:solidFill>
                  <a:srgbClr val="1A2332"/>
                </a:solidFill>
              </a:defRPr>
            </a:pPr>
            <a:r>
              <a:t>•  Probabilities are honest: predicted and observed agree in the high and low bands.</a:t>
            </a:r>
          </a:p>
          <a:p>
            <a:pPr>
              <a:spcAft>
                <a:spcPts val="600"/>
              </a:spcAft>
              <a:defRPr sz="2000" b="0">
                <a:solidFill>
                  <a:srgbClr val="1A2332"/>
                </a:solidFill>
              </a:defRPr>
            </a:pPr>
            <a:r>
              <a:t>•  The Risk page scores patients the model was trained on, so it shows sharper bands; it says so on the page.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6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1A2332"/>
                </a:solidFill>
              </a:defRPr>
            </a:pPr>
            <a:r>
              <a:t>Why this patient?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5B6778"/>
                </a:solidFill>
              </a:defRPr>
            </a:pPr>
            <a:r>
              <a:t>Every score comes with reasons and suggested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A2332"/>
                </a:solidFill>
              </a:defRPr>
            </a:pPr>
            <a:r>
              <a:t>•  Per-patient factors: what would this patient's risk be if only this factor were typical?</a:t>
            </a:r>
          </a:p>
          <a:p>
            <a:pPr>
              <a:spcAft>
                <a:spcPts val="600"/>
              </a:spcAft>
              <a:defRPr sz="2000" b="0">
                <a:solidFill>
                  <a:srgbClr val="1A2332"/>
                </a:solidFill>
              </a:defRPr>
            </a:pPr>
            <a:r>
              <a:t>•  14 transparent rules produce care actions - each with its rationale and the exact values from the record that triggered it.</a:t>
            </a:r>
          </a:p>
          <a:p>
            <a:pPr>
              <a:spcAft>
                <a:spcPts val="600"/>
              </a:spcAft>
              <a:defRPr sz="2000" b="0">
                <a:solidFill>
                  <a:srgbClr val="1A2332"/>
                </a:solidFill>
              </a:defRPr>
            </a:pPr>
            <a:r>
              <a:t>•  Rules and thresholds are published at /clinical-support/rules for clinical review.</a:t>
            </a:r>
          </a:p>
          <a:p>
            <a:pPr>
              <a:spcAft>
                <a:spcPts val="600"/>
              </a:spcAft>
              <a:defRPr sz="2000" b="0">
                <a:solidFill>
                  <a:srgbClr val="1A2332"/>
                </a:solidFill>
              </a:defRPr>
            </a:pPr>
            <a:r>
              <a:t>•  Everything is labelled decision support: illustrative rules, clinician must review.</a:t>
            </a:r>
          </a:p>
          <a:p>
            <a:pPr>
              <a:spcAft>
                <a:spcPts val="600"/>
              </a:spcAft>
              <a:defRPr sz="2000" b="0">
                <a:solidFill>
                  <a:srgbClr val="1A2332"/>
                </a:solidFill>
              </a:defRPr>
            </a:pPr>
            <a:r>
              <a:t>•  A discharge plan groups actions before, at and after discharge.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6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1A2332"/>
                </a:solidFill>
              </a:defRPr>
            </a:pPr>
            <a:r>
              <a:t>Treatment effectiveness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5B6778"/>
                </a:solidFill>
              </a:defRPr>
            </a:pPr>
            <a:r>
              <a:t>Association, adjusted for who gets treated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A2332"/>
                </a:solidFill>
              </a:defRPr>
            </a:pPr>
            <a:r>
              <a:t>•  Sicker patients get more treatment, so raw comparisons mislead. Odds ratios are stratified by age and prior admissions (Mantel-Haenszel).</a:t>
            </a:r>
          </a:p>
          <a:p>
            <a:pPr>
              <a:spcAft>
                <a:spcPts val="600"/>
              </a:spcAft>
              <a:defRPr sz="2000" b="0">
                <a:solidFill>
                  <a:srgbClr val="1A2332"/>
                </a:solidFill>
              </a:defRPr>
            </a:pPr>
            <a:r>
              <a:t>•  Insulin: 10.1% vs 8.6% readmitted; adjusted odds ratio 1.22 (1.15-1.29).</a:t>
            </a:r>
          </a:p>
          <a:p>
            <a:pPr>
              <a:spcAft>
                <a:spcPts val="600"/>
              </a:spcAft>
              <a:defRPr sz="2000" b="0">
                <a:solidFill>
                  <a:srgbClr val="1A2332"/>
                </a:solidFill>
              </a:defRPr>
            </a:pPr>
            <a:r>
              <a:t>•  Recovery is a labelled proxy: not readmitted and discharged home (69.0%). The data holds no clinical recovery score and we did not invent one.</a:t>
            </a:r>
          </a:p>
          <a:p>
            <a:pPr>
              <a:spcAft>
                <a:spcPts val="600"/>
              </a:spcAft>
              <a:defRPr sz="2000" b="0">
                <a:solidFill>
                  <a:srgbClr val="1A2332"/>
                </a:solidFill>
              </a:defRPr>
            </a:pPr>
            <a:r>
              <a:t>•  Every report states that it is observational and cannot prove cause.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6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1A2332"/>
                </a:solidFill>
              </a:defRPr>
            </a:pPr>
            <a:r>
              <a:t>Monitoring found a real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5B6778"/>
                </a:solidFill>
              </a:defRPr>
            </a:pPr>
            <a:r>
              <a:t>The control chart caught a data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A2332"/>
                </a:solidFill>
              </a:defRPr>
            </a:pPr>
            <a:r>
              <a:t>•  The newest encounters showed impossibly low readmission rates.</a:t>
            </a:r>
          </a:p>
          <a:p>
            <a:pPr>
              <a:spcAft>
                <a:spcPts val="600"/>
              </a:spcAft>
              <a:defRPr sz="2000" b="0">
                <a:solidFill>
                  <a:srgbClr val="1A2332"/>
                </a:solidFill>
              </a:defRPr>
            </a:pPr>
            <a:r>
              <a:t>•  Cause: right-censoring. The data has no dates, and recent patients have not had time to be readmitted yet.</a:t>
            </a:r>
          </a:p>
          <a:p>
            <a:pPr>
              <a:spcAft>
                <a:spcPts val="600"/>
              </a:spcAft>
              <a:defRPr sz="2000" b="0">
                <a:solidFill>
                  <a:srgbClr val="1A2332"/>
                </a:solidFill>
              </a:defRPr>
            </a:pPr>
            <a:r>
              <a:t>•  Fix: hold back the newest 10% of encounters, with a documented sensitivity table.</a:t>
            </a:r>
          </a:p>
          <a:p>
            <a:pPr>
              <a:spcAft>
                <a:spcPts val="600"/>
              </a:spcAft>
              <a:defRPr sz="2000" b="0">
                <a:solidFill>
                  <a:srgbClr val="1A2332"/>
                </a:solidFill>
              </a:defRPr>
            </a:pPr>
            <a:r>
              <a:t>•  A small residual signal remains and is left visible rather than tuned away.</a:t>
            </a:r>
          </a:p>
          <a:p>
            <a:pPr>
              <a:spcAft>
                <a:spcPts val="600"/>
              </a:spcAft>
              <a:defRPr sz="2000" b="0">
                <a:solidFill>
                  <a:srgbClr val="1A2332"/>
                </a:solidFill>
              </a:defRPr>
            </a:pPr>
            <a:r>
              <a:t>•  Observed vs expected by department: overall 5,894 vs 5,923 (ratio 0.995).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6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1A2332"/>
                </a:solidFill>
              </a:defRPr>
            </a:pPr>
            <a:r>
              <a:t>Fairness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5B6778"/>
                </a:solidFill>
              </a:defRPr>
            </a:pPr>
            <a:r>
              <a:t>Race and gender are not inputs. We checked anyway.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A2332"/>
                </a:solidFill>
              </a:defRPr>
            </a:pPr>
            <a:r>
              <a:t>•  Recall: women 0.55, men 0.45. Age 40-50: 0.34, age 70+: 0.57. Race: within noise.</a:t>
            </a:r>
          </a:p>
          <a:p>
            <a:pPr>
              <a:spcAft>
                <a:spcPts val="600"/>
              </a:spcAft>
              <a:defRPr sz="2000" b="0">
                <a:solidFill>
                  <a:srgbClr val="1A2332"/>
                </a:solidFill>
              </a:defRPr>
            </a:pPr>
            <a:r>
              <a:t>•  Calibration holds in every group large enough to test (observed/expected 0.91-1.07).</a:t>
            </a:r>
          </a:p>
          <a:p>
            <a:pPr>
              <a:spcAft>
                <a:spcPts val="600"/>
              </a:spcAft>
              <a:defRPr sz="2000" b="0">
                <a:solidFill>
                  <a:srgbClr val="1A2332"/>
                </a:solidFill>
              </a:defRPr>
            </a:pPr>
            <a:r>
              <a:t>•  The gaps are reported, not hidden - with the cutoff that would close each gap and its cost in precision.</a:t>
            </a:r>
          </a:p>
          <a:p>
            <a:pPr>
              <a:spcAft>
                <a:spcPts val="600"/>
              </a:spcAft>
              <a:defRPr sz="2000" b="0">
                <a:solidFill>
                  <a:srgbClr val="1A2332"/>
                </a:solidFill>
              </a:defRPr>
            </a:pPr>
            <a:r>
              <a:t>•  Closing them means group-specific thresholds: a clinical and ethical decision that belongs to the hospital.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6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1A2332"/>
                </a:solidFill>
              </a:defRPr>
            </a:pPr>
            <a:r>
              <a:t>Security and privacy by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A2332"/>
                </a:solidFill>
              </a:defRPr>
            </a:pPr>
            <a:r>
              <a:t>•  Four roles, one access matrix, enforced in code and pinned by tests; out-of-scope records return 404, not 403.</a:t>
            </a:r>
          </a:p>
          <a:p>
            <a:pPr>
              <a:spcAft>
                <a:spcPts val="600"/>
              </a:spcAft>
              <a:defRPr sz="1700" b="0">
                <a:solidFill>
                  <a:srgbClr val="1A2332"/>
                </a:solidFill>
              </a:defRPr>
            </a:pPr>
            <a:r>
              <a:t>•  Every read of patient data and every export is audited.</a:t>
            </a:r>
          </a:p>
          <a:p>
            <a:pPr>
              <a:spcAft>
                <a:spcPts val="600"/>
              </a:spcAft>
              <a:defRPr sz="1700" b="0">
                <a:solidFill>
                  <a:srgbClr val="1A2332"/>
                </a:solidFill>
              </a:defRPr>
            </a:pPr>
            <a:r>
              <a:t>•  Research export is pseudonymised, k-anonymous (k &gt;= 5, default 10), and formula-injection safe; groups under 11 are suppressed.</a:t>
            </a:r>
          </a:p>
          <a:p>
            <a:pPr>
              <a:spcAft>
                <a:spcPts val="600"/>
              </a:spcAft>
              <a:defRPr sz="1700" b="0">
                <a:solidFill>
                  <a:srgbClr val="1A2332"/>
                </a:solidFill>
              </a:defRPr>
            </a:pPr>
            <a:r>
              <a:t>•  Lockout after 5 failed sign-ins; production refuses to start with a default secret; no-store cache headers; docs off in production.</a:t>
            </a:r>
          </a:p>
          <a:p>
            <a:pPr>
              <a:spcAft>
                <a:spcPts val="600"/>
              </a:spcAft>
              <a:defRPr sz="1700" b="0">
                <a:solidFill>
                  <a:srgbClr val="1A2332"/>
                </a:solidFill>
              </a:defRPr>
            </a:pPr>
            <a:r>
              <a:t>•  Known gap: token in sessionStorage - an httpOnly cookie is the next step.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6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1A2332"/>
                </a:solidFill>
              </a:defRPr>
            </a:pPr>
            <a: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5B6778"/>
                </a:solidFill>
              </a:defRPr>
            </a:pPr>
            <a:r>
              <a:t>Containers now; a cloud VM with one gated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A2332"/>
                </a:solidFill>
              </a:defRPr>
            </a:pPr>
            <a:r>
              <a:t>•  docker compose up: Postgres, MongoDB, one-shot migration, API (4 workers), frontend.</a:t>
            </a:r>
          </a:p>
          <a:p>
            <a:pPr>
              <a:spcAft>
                <a:spcPts val="600"/>
              </a:spcAft>
              <a:defRPr sz="2000" b="0">
                <a:solidFill>
                  <a:srgbClr val="1A2332"/>
                </a:solidFill>
              </a:defRPr>
            </a:pPr>
            <a:r>
              <a:t>•  Production overlay: nginx is the only published port; secrets are required or compose refuses to start.</a:t>
            </a:r>
          </a:p>
          <a:p>
            <a:pPr>
              <a:spcAft>
                <a:spcPts val="600"/>
              </a:spcAft>
              <a:defRPr sz="2000" b="0">
                <a:solidFill>
                  <a:srgbClr val="1A2332"/>
                </a:solidFill>
              </a:defRPr>
            </a:pPr>
            <a:r>
              <a:t>•  GitHub Actions 'Deploy' verifies, builds images and, when a host is configured, releases over SSH and health-checks. With no host set it skips cleanly.</a:t>
            </a:r>
          </a:p>
          <a:p>
            <a:pPr>
              <a:spcAft>
                <a:spcPts val="600"/>
              </a:spcAft>
              <a:defRPr sz="2000" b="0">
                <a:solidFill>
                  <a:srgbClr val="1A2332"/>
                </a:solidFill>
              </a:defRPr>
            </a:pPr>
            <a:r>
              <a:t>•  A live cloud URL needs the owner's cloud account - it has not been created here.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6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1A2332"/>
                </a:solidFill>
              </a:defRPr>
            </a:pPr>
            <a: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000" b="1">
                <a:solidFill>
                  <a:srgbClr val="0B6E99"/>
                </a:solidFill>
              </a:defRPr>
            </a:pPr>
            <a:r>
              <a:t>283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B6778"/>
                </a:solidFill>
              </a:defRPr>
            </a:pPr>
            <a:r>
              <a:t>backend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7373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000" b="1">
                <a:solidFill>
                  <a:srgbClr val="0B6E99"/>
                </a:solidFill>
              </a:defRPr>
            </a:pPr>
            <a:r>
              <a:t>58 + 12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25146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B6778"/>
                </a:solidFill>
              </a:defRPr>
            </a:pPr>
            <a:r>
              <a:t>ML tests + end-to-end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7373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000" b="1">
                <a:solidFill>
                  <a:srgbClr val="0B6E99"/>
                </a:solidFill>
              </a:defRPr>
            </a:pPr>
            <a: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5146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B6778"/>
                </a:solidFill>
              </a:defRPr>
            </a:pPr>
            <a:r>
              <a:t>new analytics endpoints (M3)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000" b="1">
                <a:solidFill>
                  <a:srgbClr val="0B6E99"/>
                </a:solidFill>
              </a:defRPr>
            </a:pPr>
            <a:r>
              <a:t>0.2-0.4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348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B6778"/>
                </a:solidFill>
              </a:defRPr>
            </a:pPr>
            <a:r>
              <a:t>typical dashboard query, 63k patients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6576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000" b="1">
                <a:solidFill>
                  <a:srgbClr val="0B6E99"/>
                </a:solidFill>
              </a:defRPr>
            </a:pPr>
            <a:r>
              <a:t>62,991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44348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B6778"/>
                </a:solidFill>
              </a:defRPr>
            </a:pPr>
            <a:r>
              <a:t>patients analysed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6576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000" b="1">
                <a:solidFill>
                  <a:srgbClr val="1E7B4A"/>
                </a:solidFill>
              </a:defRPr>
            </a:pPr>
            <a:r>
              <a:t>4 roles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44348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B6778"/>
                </a:solidFill>
              </a:defRPr>
            </a:pPr>
            <a:r>
              <a:t>one access matrix, tested on every endpoint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6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1A2332"/>
                </a:solidFill>
              </a:defRPr>
            </a:pPr>
            <a:r>
              <a:t>Demonstration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5B6778"/>
                </a:solidFill>
              </a:defRPr>
            </a:pPr>
            <a:r>
              <a:t>Ten minutes, four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A2332"/>
                </a:solidFill>
              </a:defRPr>
            </a:pPr>
            <a:r>
              <a:t>•  Doctor: caseload, a high-risk patient, the reasons, the discharge plan.</a:t>
            </a:r>
          </a:p>
          <a:p>
            <a:pPr>
              <a:spcAft>
                <a:spcPts val="600"/>
              </a:spcAft>
              <a:defRPr sz="2000" b="0">
                <a:solidFill>
                  <a:srgbClr val="1A2332"/>
                </a:solidFill>
              </a:defRPr>
            </a:pPr>
            <a:r>
              <a:t>•  Hospital administrator: performance table and control chart; export the CSV.</a:t>
            </a:r>
          </a:p>
          <a:p>
            <a:pPr>
              <a:spcAft>
                <a:spcPts val="600"/>
              </a:spcAft>
              <a:defRPr sz="2000" b="0">
                <a:solidFill>
                  <a:srgbClr val="1A2332"/>
                </a:solidFill>
              </a:defRPr>
            </a:pPr>
            <a:r>
              <a:t>•  Researcher: the anonymous dataset - and the 403 when they ask for a patient.</a:t>
            </a:r>
          </a:p>
          <a:p>
            <a:pPr>
              <a:spcAft>
                <a:spcPts val="600"/>
              </a:spcAft>
              <a:defRPr sz="2000" b="0">
                <a:solidFill>
                  <a:srgbClr val="1A2332"/>
                </a:solidFill>
              </a:defRPr>
            </a:pPr>
            <a:r>
              <a:t>•  System administrator: users and the audit trail of what we just did.</a:t>
            </a:r>
          </a:p>
          <a:p>
            <a:pPr>
              <a:spcAft>
                <a:spcPts val="600"/>
              </a:spcAft>
              <a:defRPr sz="2000" b="0">
                <a:solidFill>
                  <a:srgbClr val="1A2332"/>
                </a:solidFill>
              </a:defRPr>
            </a:pPr>
            <a:r>
              <a:t>•  Then: sign in wrongly six times and watch the lockout.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6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1A2332"/>
                </a:solidFill>
              </a:defRPr>
            </a:pPr>
            <a:r>
              <a:t>What comes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A2332"/>
                </a:solidFill>
              </a:defRPr>
            </a:pPr>
            <a:r>
              <a:t>•  Real admission dates: monthly trends instead of an encounter sequence.</a:t>
            </a:r>
          </a:p>
          <a:p>
            <a:pPr>
              <a:spcAft>
                <a:spcPts val="600"/>
              </a:spcAft>
              <a:defRPr sz="2000" b="0">
                <a:solidFill>
                  <a:srgbClr val="1A2332"/>
                </a:solidFill>
              </a:defRPr>
            </a:pPr>
            <a:r>
              <a:t>•  Clinical validation of the recommendation rules with the care team.</a:t>
            </a:r>
          </a:p>
          <a:p>
            <a:pPr>
              <a:spcAft>
                <a:spcPts val="600"/>
              </a:spcAft>
              <a:defRPr sz="2000" b="0">
                <a:solidFill>
                  <a:srgbClr val="1A2332"/>
                </a:solidFill>
              </a:defRPr>
            </a:pPr>
            <a:r>
              <a:t>•  A decision on group thresholds after reviewing the fairness audit.</a:t>
            </a:r>
          </a:p>
          <a:p>
            <a:pPr>
              <a:spcAft>
                <a:spcPts val="600"/>
              </a:spcAft>
              <a:defRPr sz="2000" b="0">
                <a:solidFill>
                  <a:srgbClr val="1A2332"/>
                </a:solidFill>
              </a:defRPr>
            </a:pPr>
            <a:r>
              <a:t>•  httpOnly cookie sessions; model monitoring and drift alerts.</a:t>
            </a:r>
          </a:p>
          <a:p>
            <a:pPr>
              <a:spcAft>
                <a:spcPts val="600"/>
              </a:spcAft>
              <a:defRPr sz="2000" b="0">
                <a:solidFill>
                  <a:srgbClr val="1A2332"/>
                </a:solidFill>
              </a:defRPr>
            </a:pPr>
            <a:r>
              <a:t>•  External validation on a second hospital's data before any clinical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